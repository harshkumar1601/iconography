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322" r:id="rId5"/>
    <p:sldId id="323" r:id="rId6"/>
    <p:sldId id="324" r:id="rId7"/>
    <p:sldId id="321" r:id="rId8"/>
    <p:sldId id="320" r:id="rId9"/>
    <p:sldId id="327" r:id="rId10"/>
    <p:sldId id="318" r:id="rId11"/>
    <p:sldId id="316" r:id="rId12"/>
    <p:sldId id="328" r:id="rId13"/>
    <p:sldId id="325" r:id="rId14"/>
    <p:sldId id="329" r:id="rId15"/>
    <p:sldId id="330" r:id="rId16"/>
    <p:sldId id="331" r:id="rId17"/>
    <p:sldId id="326" r:id="rId18"/>
    <p:sldId id="31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>
      <p:cViewPr>
        <p:scale>
          <a:sx n="100" d="100"/>
          <a:sy n="100" d="100"/>
        </p:scale>
        <p:origin x="43" y="-446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dk2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E5F05B-FEA9-4485-A79B-FD1C4648BC89}" type="doc">
      <dgm:prSet loTypeId="urn:microsoft.com/office/officeart/2005/8/layout/hProcess9" loCatId="process" qsTypeId="urn:microsoft.com/office/officeart/2005/8/quickstyle/3d1" qsCatId="3D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98AB6293-D9AA-46A1-B0A7-3CB23DFD1F29}">
      <dgm:prSet phldrT="[Text]"/>
      <dgm:spPr/>
      <dgm:t>
        <a:bodyPr/>
        <a:lstStyle/>
        <a:p>
          <a:pPr>
            <a:buNone/>
          </a:pPr>
          <a:r>
            <a:rPr lang="en-IN" dirty="0"/>
            <a:t>Literature &amp; Taxonomy</a:t>
          </a:r>
        </a:p>
      </dgm:t>
    </dgm:pt>
    <dgm:pt modelId="{9723BF3B-4F62-4C5C-8C2F-8E9CE37A758F}" type="parTrans" cxnId="{1024A637-16BE-4904-A902-3BCFFEA9EB57}">
      <dgm:prSet/>
      <dgm:spPr/>
      <dgm:t>
        <a:bodyPr/>
        <a:lstStyle/>
        <a:p>
          <a:endParaRPr lang="en-IN"/>
        </a:p>
      </dgm:t>
    </dgm:pt>
    <dgm:pt modelId="{6AE9200D-DE21-4835-9845-59F3D049750C}" type="sibTrans" cxnId="{1024A637-16BE-4904-A902-3BCFFEA9EB57}">
      <dgm:prSet/>
      <dgm:spPr/>
      <dgm:t>
        <a:bodyPr/>
        <a:lstStyle/>
        <a:p>
          <a:endParaRPr lang="en-IN"/>
        </a:p>
      </dgm:t>
    </dgm:pt>
    <dgm:pt modelId="{2CE0DED2-48B9-4CD6-B84B-12E3053178E2}">
      <dgm:prSet phldrT="[Text]"/>
      <dgm:spPr/>
      <dgm:t>
        <a:bodyPr/>
        <a:lstStyle/>
        <a:p>
          <a:pPr>
            <a:buNone/>
          </a:pPr>
          <a:r>
            <a:rPr lang="en-IN" dirty="0"/>
            <a:t>Dataset Selection</a:t>
          </a:r>
        </a:p>
      </dgm:t>
    </dgm:pt>
    <dgm:pt modelId="{57EE2526-9168-417E-B849-D6B6FA4AACA5}" type="parTrans" cxnId="{7BC5389E-77EC-4701-A09A-E2E2DD8FBBCB}">
      <dgm:prSet/>
      <dgm:spPr/>
      <dgm:t>
        <a:bodyPr/>
        <a:lstStyle/>
        <a:p>
          <a:endParaRPr lang="en-IN"/>
        </a:p>
      </dgm:t>
    </dgm:pt>
    <dgm:pt modelId="{B35C720A-5EF6-4CCC-8893-9A74763641A3}" type="sibTrans" cxnId="{7BC5389E-77EC-4701-A09A-E2E2DD8FBBCB}">
      <dgm:prSet/>
      <dgm:spPr/>
      <dgm:t>
        <a:bodyPr/>
        <a:lstStyle/>
        <a:p>
          <a:endParaRPr lang="en-IN"/>
        </a:p>
      </dgm:t>
    </dgm:pt>
    <dgm:pt modelId="{C96FA755-8E7D-458D-B262-60AA1568A386}">
      <dgm:prSet phldrT="[Text]"/>
      <dgm:spPr/>
      <dgm:t>
        <a:bodyPr/>
        <a:lstStyle/>
        <a:p>
          <a:pPr>
            <a:buNone/>
          </a:pPr>
          <a:r>
            <a:rPr lang="en-IN" dirty="0"/>
            <a:t>8-Class Painting Classification</a:t>
          </a:r>
        </a:p>
      </dgm:t>
    </dgm:pt>
    <dgm:pt modelId="{5289FAAC-EB02-486C-939A-1C2E9072871D}" type="parTrans" cxnId="{2775BA63-E684-4612-A9A0-68531C924549}">
      <dgm:prSet/>
      <dgm:spPr/>
      <dgm:t>
        <a:bodyPr/>
        <a:lstStyle/>
        <a:p>
          <a:endParaRPr lang="en-IN"/>
        </a:p>
      </dgm:t>
    </dgm:pt>
    <dgm:pt modelId="{80111CDE-1BE5-4BFE-A08B-E1D9887BFC7B}" type="sibTrans" cxnId="{2775BA63-E684-4612-A9A0-68531C924549}">
      <dgm:prSet/>
      <dgm:spPr/>
      <dgm:t>
        <a:bodyPr/>
        <a:lstStyle/>
        <a:p>
          <a:endParaRPr lang="en-IN"/>
        </a:p>
      </dgm:t>
    </dgm:pt>
    <dgm:pt modelId="{C52398B9-8AA0-4634-8D79-CB771C0E8DBA}">
      <dgm:prSet phldrT="[Text]"/>
      <dgm:spPr/>
      <dgm:t>
        <a:bodyPr/>
        <a:lstStyle/>
        <a:p>
          <a:pPr>
            <a:buNone/>
          </a:pPr>
          <a:r>
            <a:rPr lang="en-IN"/>
            <a:t>Multiple Model Pipelines</a:t>
          </a:r>
          <a:endParaRPr lang="en-IN" dirty="0"/>
        </a:p>
      </dgm:t>
    </dgm:pt>
    <dgm:pt modelId="{E4B5C4FA-12E8-4691-A346-5E7299BA2435}" type="parTrans" cxnId="{75C8FEA7-AA22-4466-83D7-D49F1DAACAAE}">
      <dgm:prSet/>
      <dgm:spPr/>
      <dgm:t>
        <a:bodyPr/>
        <a:lstStyle/>
        <a:p>
          <a:endParaRPr lang="en-IN"/>
        </a:p>
      </dgm:t>
    </dgm:pt>
    <dgm:pt modelId="{154BDEB9-85A4-407A-983F-608313D2D1D8}" type="sibTrans" cxnId="{75C8FEA7-AA22-4466-83D7-D49F1DAACAAE}">
      <dgm:prSet/>
      <dgm:spPr/>
      <dgm:t>
        <a:bodyPr/>
        <a:lstStyle/>
        <a:p>
          <a:endParaRPr lang="en-IN"/>
        </a:p>
      </dgm:t>
    </dgm:pt>
    <dgm:pt modelId="{D18207CD-FB34-4374-ABE3-8A51E12C963A}">
      <dgm:prSet phldrT="[Text]"/>
      <dgm:spPr/>
      <dgm:t>
        <a:bodyPr/>
        <a:lstStyle/>
        <a:p>
          <a:pPr>
            <a:buNone/>
          </a:pPr>
          <a:r>
            <a:rPr lang="en-IN" dirty="0"/>
            <a:t>Fine-Tuning &amp; Staged Training</a:t>
          </a:r>
        </a:p>
      </dgm:t>
    </dgm:pt>
    <dgm:pt modelId="{F2EB10C4-BEB2-4952-930E-78281B7E449E}" type="parTrans" cxnId="{E15800EF-CE74-4028-A0FC-75E6F0423AFF}">
      <dgm:prSet/>
      <dgm:spPr/>
      <dgm:t>
        <a:bodyPr/>
        <a:lstStyle/>
        <a:p>
          <a:endParaRPr lang="en-IN"/>
        </a:p>
      </dgm:t>
    </dgm:pt>
    <dgm:pt modelId="{4B7F59FF-8DE2-464B-A758-9A578E967227}" type="sibTrans" cxnId="{E15800EF-CE74-4028-A0FC-75E6F0423AFF}">
      <dgm:prSet/>
      <dgm:spPr/>
      <dgm:t>
        <a:bodyPr/>
        <a:lstStyle/>
        <a:p>
          <a:endParaRPr lang="en-IN"/>
        </a:p>
      </dgm:t>
    </dgm:pt>
    <dgm:pt modelId="{7C850450-8A5F-4300-8AD2-2C5DB4D51310}">
      <dgm:prSet phldrT="[Text]"/>
      <dgm:spPr/>
      <dgm:t>
        <a:bodyPr/>
        <a:lstStyle/>
        <a:p>
          <a:pPr>
            <a:buNone/>
          </a:pPr>
          <a:r>
            <a:rPr lang="en-IN"/>
            <a:t>Quantitative + Class-wise Evaluation</a:t>
          </a:r>
          <a:endParaRPr lang="en-IN" dirty="0"/>
        </a:p>
      </dgm:t>
    </dgm:pt>
    <dgm:pt modelId="{00163FAA-7535-4FF3-9D9C-ADA086E15677}" type="parTrans" cxnId="{94C59C38-C04C-4303-9078-895950B0BFAB}">
      <dgm:prSet/>
      <dgm:spPr/>
      <dgm:t>
        <a:bodyPr/>
        <a:lstStyle/>
        <a:p>
          <a:endParaRPr lang="en-IN"/>
        </a:p>
      </dgm:t>
    </dgm:pt>
    <dgm:pt modelId="{A88C70F1-47F0-4FD7-8BB8-C264202B37EB}" type="sibTrans" cxnId="{94C59C38-C04C-4303-9078-895950B0BFAB}">
      <dgm:prSet/>
      <dgm:spPr/>
      <dgm:t>
        <a:bodyPr/>
        <a:lstStyle/>
        <a:p>
          <a:endParaRPr lang="en-IN"/>
        </a:p>
      </dgm:t>
    </dgm:pt>
    <dgm:pt modelId="{FC32C65A-3B1A-48B6-9EA1-F682D8858391}" type="pres">
      <dgm:prSet presAssocID="{62E5F05B-FEA9-4485-A79B-FD1C4648BC89}" presName="CompostProcess" presStyleCnt="0">
        <dgm:presLayoutVars>
          <dgm:dir/>
          <dgm:resizeHandles val="exact"/>
        </dgm:presLayoutVars>
      </dgm:prSet>
      <dgm:spPr/>
    </dgm:pt>
    <dgm:pt modelId="{CA21D2D6-854C-44FD-90EB-24B17FCD13D0}" type="pres">
      <dgm:prSet presAssocID="{62E5F05B-FEA9-4485-A79B-FD1C4648BC89}" presName="arrow" presStyleLbl="bgShp" presStyleIdx="0" presStyleCnt="1"/>
      <dgm:spPr/>
    </dgm:pt>
    <dgm:pt modelId="{2FCA9C44-F747-494B-BE9B-372BC5E81A12}" type="pres">
      <dgm:prSet presAssocID="{62E5F05B-FEA9-4485-A79B-FD1C4648BC89}" presName="linearProcess" presStyleCnt="0"/>
      <dgm:spPr/>
    </dgm:pt>
    <dgm:pt modelId="{C0BD7707-3969-4A34-A4DF-715E99812F5F}" type="pres">
      <dgm:prSet presAssocID="{98AB6293-D9AA-46A1-B0A7-3CB23DFD1F29}" presName="textNode" presStyleLbl="node1" presStyleIdx="0" presStyleCnt="6">
        <dgm:presLayoutVars>
          <dgm:bulletEnabled val="1"/>
        </dgm:presLayoutVars>
      </dgm:prSet>
      <dgm:spPr/>
    </dgm:pt>
    <dgm:pt modelId="{092093DB-6996-46CE-8510-4CCA87D8E218}" type="pres">
      <dgm:prSet presAssocID="{6AE9200D-DE21-4835-9845-59F3D049750C}" presName="sibTrans" presStyleCnt="0"/>
      <dgm:spPr/>
    </dgm:pt>
    <dgm:pt modelId="{7EBD833F-2EE1-4D7F-B9F9-217B3C61BE27}" type="pres">
      <dgm:prSet presAssocID="{2CE0DED2-48B9-4CD6-B84B-12E3053178E2}" presName="textNode" presStyleLbl="node1" presStyleIdx="1" presStyleCnt="6">
        <dgm:presLayoutVars>
          <dgm:bulletEnabled val="1"/>
        </dgm:presLayoutVars>
      </dgm:prSet>
      <dgm:spPr/>
    </dgm:pt>
    <dgm:pt modelId="{68DC305C-D0CC-43B7-B769-AF660E91E7F2}" type="pres">
      <dgm:prSet presAssocID="{B35C720A-5EF6-4CCC-8893-9A74763641A3}" presName="sibTrans" presStyleCnt="0"/>
      <dgm:spPr/>
    </dgm:pt>
    <dgm:pt modelId="{4583727C-A33F-4949-A1E8-45C901128D39}" type="pres">
      <dgm:prSet presAssocID="{C96FA755-8E7D-458D-B262-60AA1568A386}" presName="textNode" presStyleLbl="node1" presStyleIdx="2" presStyleCnt="6">
        <dgm:presLayoutVars>
          <dgm:bulletEnabled val="1"/>
        </dgm:presLayoutVars>
      </dgm:prSet>
      <dgm:spPr/>
    </dgm:pt>
    <dgm:pt modelId="{3ADDD4FA-01AE-4BBF-8211-C0008A137B77}" type="pres">
      <dgm:prSet presAssocID="{80111CDE-1BE5-4BFE-A08B-E1D9887BFC7B}" presName="sibTrans" presStyleCnt="0"/>
      <dgm:spPr/>
    </dgm:pt>
    <dgm:pt modelId="{5C814ADB-E66E-4ED5-8A81-6F95634204E6}" type="pres">
      <dgm:prSet presAssocID="{C52398B9-8AA0-4634-8D79-CB771C0E8DBA}" presName="textNode" presStyleLbl="node1" presStyleIdx="3" presStyleCnt="6">
        <dgm:presLayoutVars>
          <dgm:bulletEnabled val="1"/>
        </dgm:presLayoutVars>
      </dgm:prSet>
      <dgm:spPr/>
    </dgm:pt>
    <dgm:pt modelId="{979AAD0B-187F-4DD4-BF10-BCF645CC6BA1}" type="pres">
      <dgm:prSet presAssocID="{154BDEB9-85A4-407A-983F-608313D2D1D8}" presName="sibTrans" presStyleCnt="0"/>
      <dgm:spPr/>
    </dgm:pt>
    <dgm:pt modelId="{3954BB9E-D0BE-46E4-9296-A31EB55D4915}" type="pres">
      <dgm:prSet presAssocID="{D18207CD-FB34-4374-ABE3-8A51E12C963A}" presName="textNode" presStyleLbl="node1" presStyleIdx="4" presStyleCnt="6">
        <dgm:presLayoutVars>
          <dgm:bulletEnabled val="1"/>
        </dgm:presLayoutVars>
      </dgm:prSet>
      <dgm:spPr/>
    </dgm:pt>
    <dgm:pt modelId="{9058E4B3-D161-4FBC-9FF9-25628F0E8C3A}" type="pres">
      <dgm:prSet presAssocID="{4B7F59FF-8DE2-464B-A758-9A578E967227}" presName="sibTrans" presStyleCnt="0"/>
      <dgm:spPr/>
    </dgm:pt>
    <dgm:pt modelId="{D63AA8E7-DD34-44F7-9338-28EF58F4B67F}" type="pres">
      <dgm:prSet presAssocID="{7C850450-8A5F-4300-8AD2-2C5DB4D51310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1024A637-16BE-4904-A902-3BCFFEA9EB57}" srcId="{62E5F05B-FEA9-4485-A79B-FD1C4648BC89}" destId="{98AB6293-D9AA-46A1-B0A7-3CB23DFD1F29}" srcOrd="0" destOrd="0" parTransId="{9723BF3B-4F62-4C5C-8C2F-8E9CE37A758F}" sibTransId="{6AE9200D-DE21-4835-9845-59F3D049750C}"/>
    <dgm:cxn modelId="{94C59C38-C04C-4303-9078-895950B0BFAB}" srcId="{62E5F05B-FEA9-4485-A79B-FD1C4648BC89}" destId="{7C850450-8A5F-4300-8AD2-2C5DB4D51310}" srcOrd="5" destOrd="0" parTransId="{00163FAA-7535-4FF3-9D9C-ADA086E15677}" sibTransId="{A88C70F1-47F0-4FD7-8BB8-C264202B37EB}"/>
    <dgm:cxn modelId="{30C9E061-5A38-4B04-B0B7-6709EDD9C273}" type="presOf" srcId="{D18207CD-FB34-4374-ABE3-8A51E12C963A}" destId="{3954BB9E-D0BE-46E4-9296-A31EB55D4915}" srcOrd="0" destOrd="0" presId="urn:microsoft.com/office/officeart/2005/8/layout/hProcess9"/>
    <dgm:cxn modelId="{2775BA63-E684-4612-A9A0-68531C924549}" srcId="{62E5F05B-FEA9-4485-A79B-FD1C4648BC89}" destId="{C96FA755-8E7D-458D-B262-60AA1568A386}" srcOrd="2" destOrd="0" parTransId="{5289FAAC-EB02-486C-939A-1C2E9072871D}" sibTransId="{80111CDE-1BE5-4BFE-A08B-E1D9887BFC7B}"/>
    <dgm:cxn modelId="{131AD949-6D4A-4C0B-BB9A-F579CCDC64BC}" type="presOf" srcId="{2CE0DED2-48B9-4CD6-B84B-12E3053178E2}" destId="{7EBD833F-2EE1-4D7F-B9F9-217B3C61BE27}" srcOrd="0" destOrd="0" presId="urn:microsoft.com/office/officeart/2005/8/layout/hProcess9"/>
    <dgm:cxn modelId="{3204DD6D-54EC-45AA-AF23-1DA9C50CE2E7}" type="presOf" srcId="{C52398B9-8AA0-4634-8D79-CB771C0E8DBA}" destId="{5C814ADB-E66E-4ED5-8A81-6F95634204E6}" srcOrd="0" destOrd="0" presId="urn:microsoft.com/office/officeart/2005/8/layout/hProcess9"/>
    <dgm:cxn modelId="{9466C47E-5CA0-40AC-9328-BB1B08278FCC}" type="presOf" srcId="{C96FA755-8E7D-458D-B262-60AA1568A386}" destId="{4583727C-A33F-4949-A1E8-45C901128D39}" srcOrd="0" destOrd="0" presId="urn:microsoft.com/office/officeart/2005/8/layout/hProcess9"/>
    <dgm:cxn modelId="{C2D6F78C-2360-4EDA-95D4-D9AF7EEF981A}" type="presOf" srcId="{98AB6293-D9AA-46A1-B0A7-3CB23DFD1F29}" destId="{C0BD7707-3969-4A34-A4DF-715E99812F5F}" srcOrd="0" destOrd="0" presId="urn:microsoft.com/office/officeart/2005/8/layout/hProcess9"/>
    <dgm:cxn modelId="{D7303190-3D04-434A-BC1F-F19EE5E65670}" type="presOf" srcId="{62E5F05B-FEA9-4485-A79B-FD1C4648BC89}" destId="{FC32C65A-3B1A-48B6-9EA1-F682D8858391}" srcOrd="0" destOrd="0" presId="urn:microsoft.com/office/officeart/2005/8/layout/hProcess9"/>
    <dgm:cxn modelId="{7BC5389E-77EC-4701-A09A-E2E2DD8FBBCB}" srcId="{62E5F05B-FEA9-4485-A79B-FD1C4648BC89}" destId="{2CE0DED2-48B9-4CD6-B84B-12E3053178E2}" srcOrd="1" destOrd="0" parTransId="{57EE2526-9168-417E-B849-D6B6FA4AACA5}" sibTransId="{B35C720A-5EF6-4CCC-8893-9A74763641A3}"/>
    <dgm:cxn modelId="{75C8FEA7-AA22-4466-83D7-D49F1DAACAAE}" srcId="{62E5F05B-FEA9-4485-A79B-FD1C4648BC89}" destId="{C52398B9-8AA0-4634-8D79-CB771C0E8DBA}" srcOrd="3" destOrd="0" parTransId="{E4B5C4FA-12E8-4691-A346-5E7299BA2435}" sibTransId="{154BDEB9-85A4-407A-983F-608313D2D1D8}"/>
    <dgm:cxn modelId="{F78AFCC4-E365-4D80-82B0-92E3D45EFED7}" type="presOf" srcId="{7C850450-8A5F-4300-8AD2-2C5DB4D51310}" destId="{D63AA8E7-DD34-44F7-9338-28EF58F4B67F}" srcOrd="0" destOrd="0" presId="urn:microsoft.com/office/officeart/2005/8/layout/hProcess9"/>
    <dgm:cxn modelId="{E15800EF-CE74-4028-A0FC-75E6F0423AFF}" srcId="{62E5F05B-FEA9-4485-A79B-FD1C4648BC89}" destId="{D18207CD-FB34-4374-ABE3-8A51E12C963A}" srcOrd="4" destOrd="0" parTransId="{F2EB10C4-BEB2-4952-930E-78281B7E449E}" sibTransId="{4B7F59FF-8DE2-464B-A758-9A578E967227}"/>
    <dgm:cxn modelId="{65B096D8-E8FA-464C-B752-B4F6FF49E643}" type="presParOf" srcId="{FC32C65A-3B1A-48B6-9EA1-F682D8858391}" destId="{CA21D2D6-854C-44FD-90EB-24B17FCD13D0}" srcOrd="0" destOrd="0" presId="urn:microsoft.com/office/officeart/2005/8/layout/hProcess9"/>
    <dgm:cxn modelId="{CF60D15E-D9C8-4EF9-AC7B-750B7E6121D6}" type="presParOf" srcId="{FC32C65A-3B1A-48B6-9EA1-F682D8858391}" destId="{2FCA9C44-F747-494B-BE9B-372BC5E81A12}" srcOrd="1" destOrd="0" presId="urn:microsoft.com/office/officeart/2005/8/layout/hProcess9"/>
    <dgm:cxn modelId="{BBD5E4B2-2D59-45F5-8840-6805B049D465}" type="presParOf" srcId="{2FCA9C44-F747-494B-BE9B-372BC5E81A12}" destId="{C0BD7707-3969-4A34-A4DF-715E99812F5F}" srcOrd="0" destOrd="0" presId="urn:microsoft.com/office/officeart/2005/8/layout/hProcess9"/>
    <dgm:cxn modelId="{8E3032B3-5BE4-436D-9B0A-19A9BA153A4B}" type="presParOf" srcId="{2FCA9C44-F747-494B-BE9B-372BC5E81A12}" destId="{092093DB-6996-46CE-8510-4CCA87D8E218}" srcOrd="1" destOrd="0" presId="urn:microsoft.com/office/officeart/2005/8/layout/hProcess9"/>
    <dgm:cxn modelId="{A4BD3858-6D54-455E-BB5D-63179C6C9604}" type="presParOf" srcId="{2FCA9C44-F747-494B-BE9B-372BC5E81A12}" destId="{7EBD833F-2EE1-4D7F-B9F9-217B3C61BE27}" srcOrd="2" destOrd="0" presId="urn:microsoft.com/office/officeart/2005/8/layout/hProcess9"/>
    <dgm:cxn modelId="{ADC45DF7-948F-4AAE-B931-589EFEB4FBD2}" type="presParOf" srcId="{2FCA9C44-F747-494B-BE9B-372BC5E81A12}" destId="{68DC305C-D0CC-43B7-B769-AF660E91E7F2}" srcOrd="3" destOrd="0" presId="urn:microsoft.com/office/officeart/2005/8/layout/hProcess9"/>
    <dgm:cxn modelId="{81E98612-F243-412A-9EED-843DD1D97B5C}" type="presParOf" srcId="{2FCA9C44-F747-494B-BE9B-372BC5E81A12}" destId="{4583727C-A33F-4949-A1E8-45C901128D39}" srcOrd="4" destOrd="0" presId="urn:microsoft.com/office/officeart/2005/8/layout/hProcess9"/>
    <dgm:cxn modelId="{BBED546A-B11F-478F-9B27-57ADA336CDD8}" type="presParOf" srcId="{2FCA9C44-F747-494B-BE9B-372BC5E81A12}" destId="{3ADDD4FA-01AE-4BBF-8211-C0008A137B77}" srcOrd="5" destOrd="0" presId="urn:microsoft.com/office/officeart/2005/8/layout/hProcess9"/>
    <dgm:cxn modelId="{3714E8E4-2DE7-429B-838C-223F4236D52E}" type="presParOf" srcId="{2FCA9C44-F747-494B-BE9B-372BC5E81A12}" destId="{5C814ADB-E66E-4ED5-8A81-6F95634204E6}" srcOrd="6" destOrd="0" presId="urn:microsoft.com/office/officeart/2005/8/layout/hProcess9"/>
    <dgm:cxn modelId="{BD4E235D-86AA-4341-9FB6-D834CE5105AE}" type="presParOf" srcId="{2FCA9C44-F747-494B-BE9B-372BC5E81A12}" destId="{979AAD0B-187F-4DD4-BF10-BCF645CC6BA1}" srcOrd="7" destOrd="0" presId="urn:microsoft.com/office/officeart/2005/8/layout/hProcess9"/>
    <dgm:cxn modelId="{2B1ABB1B-8933-483B-9749-F05FAC8E63D7}" type="presParOf" srcId="{2FCA9C44-F747-494B-BE9B-372BC5E81A12}" destId="{3954BB9E-D0BE-46E4-9296-A31EB55D4915}" srcOrd="8" destOrd="0" presId="urn:microsoft.com/office/officeart/2005/8/layout/hProcess9"/>
    <dgm:cxn modelId="{DCA680C6-3568-4C9D-BB5F-AFF8DE8E2222}" type="presParOf" srcId="{2FCA9C44-F747-494B-BE9B-372BC5E81A12}" destId="{9058E4B3-D161-4FBC-9FF9-25628F0E8C3A}" srcOrd="9" destOrd="0" presId="urn:microsoft.com/office/officeart/2005/8/layout/hProcess9"/>
    <dgm:cxn modelId="{C724B236-3ADE-4689-856E-D98644140E39}" type="presParOf" srcId="{2FCA9C44-F747-494B-BE9B-372BC5E81A12}" destId="{D63AA8E7-DD34-44F7-9338-28EF58F4B67F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21D2D6-854C-44FD-90EB-24B17FCD13D0}">
      <dsp:nvSpPr>
        <dsp:cNvPr id="0" name=""/>
        <dsp:cNvSpPr/>
      </dsp:nvSpPr>
      <dsp:spPr>
        <a:xfrm>
          <a:off x="783227" y="0"/>
          <a:ext cx="8876573" cy="4332514"/>
        </a:xfrm>
        <a:prstGeom prst="rightArrow">
          <a:avLst/>
        </a:prstGeom>
        <a:gradFill rotWithShape="0">
          <a:gsLst>
            <a:gs pos="0">
              <a:schemeClr val="dk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C0BD7707-3969-4A34-A4DF-715E99812F5F}">
      <dsp:nvSpPr>
        <dsp:cNvPr id="0" name=""/>
        <dsp:cNvSpPr/>
      </dsp:nvSpPr>
      <dsp:spPr>
        <a:xfrm>
          <a:off x="2868" y="1299754"/>
          <a:ext cx="1669966" cy="1733005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Literature &amp; Taxonomy</a:t>
          </a:r>
        </a:p>
      </dsp:txBody>
      <dsp:txXfrm>
        <a:off x="84389" y="1381275"/>
        <a:ext cx="1506924" cy="1569963"/>
      </dsp:txXfrm>
    </dsp:sp>
    <dsp:sp modelId="{7EBD833F-2EE1-4D7F-B9F9-217B3C61BE27}">
      <dsp:nvSpPr>
        <dsp:cNvPr id="0" name=""/>
        <dsp:cNvSpPr/>
      </dsp:nvSpPr>
      <dsp:spPr>
        <a:xfrm>
          <a:off x="1756333" y="1299754"/>
          <a:ext cx="1669966" cy="1733005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Dataset Selection</a:t>
          </a:r>
        </a:p>
      </dsp:txBody>
      <dsp:txXfrm>
        <a:off x="1837854" y="1381275"/>
        <a:ext cx="1506924" cy="1569963"/>
      </dsp:txXfrm>
    </dsp:sp>
    <dsp:sp modelId="{4583727C-A33F-4949-A1E8-45C901128D39}">
      <dsp:nvSpPr>
        <dsp:cNvPr id="0" name=""/>
        <dsp:cNvSpPr/>
      </dsp:nvSpPr>
      <dsp:spPr>
        <a:xfrm>
          <a:off x="3509798" y="1299754"/>
          <a:ext cx="1669966" cy="1733005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8-Class Painting Classification</a:t>
          </a:r>
        </a:p>
      </dsp:txBody>
      <dsp:txXfrm>
        <a:off x="3591319" y="1381275"/>
        <a:ext cx="1506924" cy="1569963"/>
      </dsp:txXfrm>
    </dsp:sp>
    <dsp:sp modelId="{5C814ADB-E66E-4ED5-8A81-6F95634204E6}">
      <dsp:nvSpPr>
        <dsp:cNvPr id="0" name=""/>
        <dsp:cNvSpPr/>
      </dsp:nvSpPr>
      <dsp:spPr>
        <a:xfrm>
          <a:off x="5263263" y="1299754"/>
          <a:ext cx="1669966" cy="1733005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Multiple Model Pipelines</a:t>
          </a:r>
          <a:endParaRPr lang="en-IN" sz="1800" kern="1200" dirty="0"/>
        </a:p>
      </dsp:txBody>
      <dsp:txXfrm>
        <a:off x="5344784" y="1381275"/>
        <a:ext cx="1506924" cy="1569963"/>
      </dsp:txXfrm>
    </dsp:sp>
    <dsp:sp modelId="{3954BB9E-D0BE-46E4-9296-A31EB55D4915}">
      <dsp:nvSpPr>
        <dsp:cNvPr id="0" name=""/>
        <dsp:cNvSpPr/>
      </dsp:nvSpPr>
      <dsp:spPr>
        <a:xfrm>
          <a:off x="7016728" y="1299754"/>
          <a:ext cx="1669966" cy="1733005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Fine-Tuning &amp; Staged Training</a:t>
          </a:r>
        </a:p>
      </dsp:txBody>
      <dsp:txXfrm>
        <a:off x="7098249" y="1381275"/>
        <a:ext cx="1506924" cy="1569963"/>
      </dsp:txXfrm>
    </dsp:sp>
    <dsp:sp modelId="{D63AA8E7-DD34-44F7-9338-28EF58F4B67F}">
      <dsp:nvSpPr>
        <dsp:cNvPr id="0" name=""/>
        <dsp:cNvSpPr/>
      </dsp:nvSpPr>
      <dsp:spPr>
        <a:xfrm>
          <a:off x="8770193" y="1299754"/>
          <a:ext cx="1669966" cy="1733005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Quantitative + Class-wise Evaluation</a:t>
          </a:r>
          <a:endParaRPr lang="en-IN" sz="1800" kern="1200" dirty="0"/>
        </a:p>
      </dsp:txBody>
      <dsp:txXfrm>
        <a:off x="8851714" y="1381275"/>
        <a:ext cx="1506924" cy="15699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ajg117/indian-paintings-dataset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conography designs, themes, templates and downloadable graphic elements on  Dribbble">
            <a:extLst>
              <a:ext uri="{FF2B5EF4-FFF2-40B4-BE49-F238E27FC236}">
                <a16:creationId xmlns:a16="http://schemas.microsoft.com/office/drawing/2014/main" id="{35C415A6-C7CB-EF21-0B72-229BFF9658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568" y="9832"/>
            <a:ext cx="11287431" cy="685800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4002023-DDD8-4E08-3E28-5DB3E57B8B9F}"/>
              </a:ext>
            </a:extLst>
          </p:cNvPr>
          <p:cNvSpPr/>
          <p:nvPr/>
        </p:nvSpPr>
        <p:spPr>
          <a:xfrm>
            <a:off x="1007851" y="2696494"/>
            <a:ext cx="7246375" cy="2202427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260" y="2549011"/>
            <a:ext cx="6076243" cy="2281084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Research Review-3 on Iconography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CD2C84-7EF5-22C0-AED9-869AAC799DBA}"/>
              </a:ext>
            </a:extLst>
          </p:cNvPr>
          <p:cNvSpPr txBox="1"/>
          <p:nvPr/>
        </p:nvSpPr>
        <p:spPr>
          <a:xfrm>
            <a:off x="1622323" y="5220928"/>
            <a:ext cx="438518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Present by :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  </a:t>
            </a:r>
            <a:r>
              <a:rPr lang="en-IN" sz="2000" b="1" dirty="0" err="1">
                <a:solidFill>
                  <a:schemeClr val="bg1"/>
                </a:solidFill>
              </a:rPr>
              <a:t>Harshkumar</a:t>
            </a:r>
            <a:r>
              <a:rPr lang="en-IN" sz="2000" b="1" dirty="0">
                <a:solidFill>
                  <a:schemeClr val="bg1"/>
                </a:solidFill>
              </a:rPr>
              <a:t> Beladiya ( 23BCE030 )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  Yagnik </a:t>
            </a:r>
            <a:r>
              <a:rPr lang="en-IN" sz="2000" b="1" dirty="0" err="1">
                <a:solidFill>
                  <a:schemeClr val="bg1"/>
                </a:solidFill>
              </a:rPr>
              <a:t>Baldaniya</a:t>
            </a:r>
            <a:r>
              <a:rPr lang="en-IN" sz="2000" b="1" dirty="0">
                <a:solidFill>
                  <a:schemeClr val="bg1"/>
                </a:solidFill>
              </a:rPr>
              <a:t> ( 23BCE027 )</a:t>
            </a:r>
          </a:p>
          <a:p>
            <a:r>
              <a:rPr lang="en-IN" dirty="0"/>
              <a:t>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81EB2C-9E07-6F4F-893E-70AFAD2CC951}"/>
              </a:ext>
            </a:extLst>
          </p:cNvPr>
          <p:cNvSpPr txBox="1"/>
          <p:nvPr/>
        </p:nvSpPr>
        <p:spPr>
          <a:xfrm>
            <a:off x="6548283" y="5220928"/>
            <a:ext cx="26940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>
                    <a:lumMod val="95000"/>
                  </a:schemeClr>
                </a:solidFill>
              </a:rPr>
              <a:t>Guide By:</a:t>
            </a:r>
          </a:p>
          <a:p>
            <a:r>
              <a:rPr lang="en-IN" sz="2000" b="1" dirty="0">
                <a:solidFill>
                  <a:schemeClr val="bg1">
                    <a:lumMod val="95000"/>
                  </a:schemeClr>
                </a:solidFill>
              </a:rPr>
              <a:t>  Anuja Nair</a:t>
            </a:r>
            <a:endParaRPr lang="en-IN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FEF0BC9-5FAD-6F2E-BB82-29A19816CE89}"/>
              </a:ext>
            </a:extLst>
          </p:cNvPr>
          <p:cNvSpPr txBox="1">
            <a:spLocks/>
          </p:cNvSpPr>
          <p:nvPr/>
        </p:nvSpPr>
        <p:spPr>
          <a:xfrm>
            <a:off x="545277" y="6016274"/>
            <a:ext cx="968983" cy="65191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D65601-5AE2-46FC-B138-694DDD2B510D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65D112-2D78-A72A-67E0-662E630CC99C}"/>
              </a:ext>
            </a:extLst>
          </p:cNvPr>
          <p:cNvSpPr/>
          <p:nvPr/>
        </p:nvSpPr>
        <p:spPr>
          <a:xfrm>
            <a:off x="88490" y="255639"/>
            <a:ext cx="8259097" cy="114054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solidFill>
                  <a:schemeClr val="tx1"/>
                </a:solidFill>
              </a:rPr>
              <a:t>PART A — Previous Review Progress</a:t>
            </a:r>
            <a:endParaRPr lang="en-IN" sz="3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7CCFCC-37B1-53C0-771A-A5FE192823D9}"/>
              </a:ext>
            </a:extLst>
          </p:cNvPr>
          <p:cNvSpPr txBox="1"/>
          <p:nvPr/>
        </p:nvSpPr>
        <p:spPr>
          <a:xfrm>
            <a:off x="1061883" y="1396181"/>
            <a:ext cx="649912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/>
              <a:t>Work Done Till RMS Review-1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Studied the fundamentals and scope of Iconography.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Conducted a systematic literature review of existing Iconography research.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Identified major research trends, methodologies, strengths and limitations.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Performed comparative analysis of existing research papers.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Developed an initial taxonomy for: </a:t>
            </a:r>
          </a:p>
          <a:p>
            <a:pPr lvl="1"/>
            <a:r>
              <a:rPr lang="en-IN" sz="1600" dirty="0"/>
              <a:t>Iconography applications </a:t>
            </a:r>
          </a:p>
          <a:p>
            <a:pPr lvl="1"/>
            <a:r>
              <a:rPr lang="en-IN" sz="1600" dirty="0"/>
              <a:t>Cultural and religious Iconography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Identified the need for structured classification and interdisciplinary research.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Prepared a comparative Excel study of existing surveys and the proposed survey.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lvl="0"/>
            <a:endParaRPr lang="en-IN" sz="1600" dirty="0"/>
          </a:p>
          <a:p>
            <a:r>
              <a:rPr lang="en-IN" sz="1600" b="1" dirty="0"/>
              <a:t>Key outcome:</a:t>
            </a:r>
            <a:br>
              <a:rPr lang="en-IN" sz="1600" dirty="0"/>
            </a:br>
            <a:r>
              <a:rPr lang="en-IN" sz="1600" dirty="0"/>
              <a:t>Established the research foundation and initial taxonomy for Iconography.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sz="2400" b="1" u="sng" dirty="0"/>
          </a:p>
          <a:p>
            <a:endParaRPr lang="en-IN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A41CE9-6CD8-0031-00A9-E0AC000BAB0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8534399" y="1514167"/>
            <a:ext cx="3386840" cy="508026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7B0FE266-3F12-2B60-0E5C-ADE945210E59}"/>
              </a:ext>
            </a:extLst>
          </p:cNvPr>
          <p:cNvSpPr txBox="1">
            <a:spLocks/>
          </p:cNvSpPr>
          <p:nvPr/>
        </p:nvSpPr>
        <p:spPr>
          <a:xfrm>
            <a:off x="577391" y="5950449"/>
            <a:ext cx="968983" cy="65191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D65601-5AE2-46FC-B138-694DDD2B510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93632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AA8CA-85CB-2DE9-9076-34347DD1D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723" y="-39995"/>
            <a:ext cx="8186462" cy="1147353"/>
          </a:xfrm>
        </p:spPr>
        <p:txBody>
          <a:bodyPr/>
          <a:lstStyle/>
          <a:p>
            <a:r>
              <a:rPr lang="en-IN" dirty="0"/>
              <a:t>Work Done Till RMS Review-2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01D076-F34B-33FD-E1B2-0009267AB15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5B0518-ABA1-A6C3-BBAC-CD45AD64D2F6}"/>
              </a:ext>
            </a:extLst>
          </p:cNvPr>
          <p:cNvSpPr txBox="1"/>
          <p:nvPr/>
        </p:nvSpPr>
        <p:spPr>
          <a:xfrm>
            <a:off x="1528046" y="840155"/>
            <a:ext cx="10221502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Explored datasets related to cultural heritage and Iconography.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Investigated multiple dataset sources: </a:t>
            </a:r>
          </a:p>
          <a:p>
            <a:pPr lvl="1"/>
            <a:r>
              <a:rPr lang="en-IN" sz="1600" dirty="0"/>
              <a:t>Kaggle </a:t>
            </a:r>
          </a:p>
          <a:p>
            <a:pPr lvl="1"/>
            <a:r>
              <a:rPr lang="en-IN" sz="1600" dirty="0" err="1"/>
              <a:t>Zenodo</a:t>
            </a:r>
            <a:r>
              <a:rPr lang="en-IN" sz="1600" dirty="0"/>
              <a:t> </a:t>
            </a:r>
          </a:p>
          <a:p>
            <a:pPr lvl="1"/>
            <a:r>
              <a:rPr lang="en-IN" sz="1600" dirty="0" err="1"/>
              <a:t>Europeana</a:t>
            </a:r>
            <a:r>
              <a:rPr lang="en-IN" sz="1600" dirty="0"/>
              <a:t> </a:t>
            </a:r>
          </a:p>
          <a:p>
            <a:pPr lvl="1"/>
            <a:r>
              <a:rPr lang="en-IN" sz="1600" dirty="0"/>
              <a:t>Museum repositories </a:t>
            </a:r>
          </a:p>
          <a:p>
            <a:pPr lvl="1"/>
            <a:r>
              <a:rPr lang="en-IN" sz="1600" dirty="0"/>
              <a:t>Research datasets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Collected </a:t>
            </a:r>
            <a:r>
              <a:rPr lang="en-IN" sz="1600" b="1" dirty="0"/>
              <a:t>76 research papers</a:t>
            </a:r>
            <a:r>
              <a:rPr lang="en-IN" sz="1600" dirty="0"/>
              <a:t> from IEEE, Springer, Elsevier, MDPI, ACM and other sources.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Classified papers into: </a:t>
            </a:r>
          </a:p>
          <a:p>
            <a:pPr lvl="1"/>
            <a:r>
              <a:rPr lang="en-IN" sz="1600" dirty="0"/>
              <a:t>Core Iconography </a:t>
            </a:r>
          </a:p>
          <a:p>
            <a:pPr lvl="1"/>
            <a:r>
              <a:rPr lang="en-IN" sz="1600" dirty="0"/>
              <a:t>AI + Iconography </a:t>
            </a:r>
          </a:p>
          <a:p>
            <a:pPr lvl="1"/>
            <a:r>
              <a:rPr lang="en-IN" sz="1600" dirty="0"/>
              <a:t>Supporting Papers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Identified methods and sub-methods used in Iconography.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Refined the taxonomy using the collected literature.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Identified major research gaps: </a:t>
            </a:r>
          </a:p>
          <a:p>
            <a:pPr lvl="1"/>
            <a:r>
              <a:rPr lang="en-IN" sz="1600" dirty="0"/>
              <a:t>Lack of standard cultural-heritage datasets </a:t>
            </a:r>
          </a:p>
          <a:p>
            <a:pPr lvl="1"/>
            <a:r>
              <a:rPr lang="en-IN" sz="1600" dirty="0"/>
              <a:t>Limited symbolic interpretation </a:t>
            </a:r>
          </a:p>
          <a:p>
            <a:pPr lvl="1"/>
            <a:r>
              <a:rPr lang="en-IN" sz="1600" dirty="0"/>
              <a:t>Weak visual-text integration </a:t>
            </a:r>
          </a:p>
          <a:p>
            <a:pPr lvl="1"/>
            <a:r>
              <a:rPr lang="en-IN" sz="1600" dirty="0"/>
              <a:t>Lack of unified evaluation benchmarks </a:t>
            </a:r>
          </a:p>
          <a:p>
            <a:r>
              <a:rPr lang="en-IN" sz="1600" b="1" dirty="0"/>
              <a:t>Key outcome:</a:t>
            </a:r>
            <a:br>
              <a:rPr lang="en-IN" sz="1600" dirty="0"/>
            </a:br>
            <a:r>
              <a:rPr lang="en-IN" sz="1600" dirty="0"/>
              <a:t>Research foundation was converted into a structured dataset/literature-based research framework, enabling implementation-oriented work.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640406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7761-0B88-A5E8-0B78-C39173D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347" y="78508"/>
            <a:ext cx="10005339" cy="1108036"/>
          </a:xfrm>
        </p:spPr>
        <p:txBody>
          <a:bodyPr/>
          <a:lstStyle/>
          <a:p>
            <a:r>
              <a:rPr lang="en-IN" dirty="0"/>
              <a:t>PART B - From Research Gap to Implementation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4601E-33F5-5714-867D-A0B584DA7C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48A35E-D415-A8E5-5F37-ECFF22AB6CB1}"/>
              </a:ext>
            </a:extLst>
          </p:cNvPr>
          <p:cNvSpPr txBox="1"/>
          <p:nvPr/>
        </p:nvSpPr>
        <p:spPr>
          <a:xfrm>
            <a:off x="978347" y="925286"/>
            <a:ext cx="1090885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Transition from Literature Review to AI-Based Implementation</a:t>
            </a:r>
          </a:p>
          <a:p>
            <a:endParaRPr lang="en-IN" b="1" dirty="0"/>
          </a:p>
          <a:p>
            <a:r>
              <a:rPr lang="en-IN" b="1" dirty="0"/>
              <a:t>Research gaps identified in Review-2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Lack of standard datasets for cultural-heritage Iconography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Limited AI-based classification and interpretation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Limited symbolic interpretation approaches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Weak integration of visual and textual information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Absence of unified evaluation benchmarks </a:t>
            </a:r>
          </a:p>
          <a:p>
            <a:pPr lvl="0"/>
            <a:endParaRPr lang="en-IN" dirty="0"/>
          </a:p>
          <a:p>
            <a:r>
              <a:rPr lang="en-IN" b="1" dirty="0"/>
              <a:t>Current Research Direction</a:t>
            </a:r>
          </a:p>
          <a:p>
            <a:r>
              <a:rPr lang="en-IN" dirty="0">
                <a:hlinkClick r:id="rId2"/>
              </a:rPr>
              <a:t>Indian Traditional Painting Classification using Deep Learning</a:t>
            </a:r>
            <a:endParaRPr lang="en-IN" dirty="0"/>
          </a:p>
          <a:p>
            <a:endParaRPr lang="en-IN" dirty="0"/>
          </a:p>
          <a:p>
            <a:r>
              <a:rPr lang="en-IN" b="1" dirty="0"/>
              <a:t>Objective:</a:t>
            </a:r>
            <a:br>
              <a:rPr lang="en-IN" dirty="0"/>
            </a:br>
            <a:r>
              <a:rPr lang="en-IN" dirty="0"/>
              <a:t>To investigate AI-based visual classification approaches for Indian paintings and compare their effectiveness across multiple architectures and pipelines.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D0E47E-D228-15EB-5886-33E9AA181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368" y="98322"/>
            <a:ext cx="7033089" cy="882848"/>
          </a:xfrm>
        </p:spPr>
        <p:txBody>
          <a:bodyPr/>
          <a:lstStyle/>
          <a:p>
            <a:r>
              <a:rPr lang="en-IN" dirty="0"/>
              <a:t>Implementation progression</a:t>
            </a:r>
            <a:endParaRPr lang="en-US" dirty="0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F68D0A3B-2A42-94ED-9F06-EEDA1B608E1F}"/>
              </a:ext>
            </a:extLst>
          </p:cNvPr>
          <p:cNvSpPr txBox="1">
            <a:spLocks/>
          </p:cNvSpPr>
          <p:nvPr/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D65601-5AE2-46FC-B138-694DDD2B510D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585B4B1-13DD-6B20-43BB-ED14CD305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7700296"/>
              </p:ext>
            </p:extLst>
          </p:nvPr>
        </p:nvGraphicFramePr>
        <p:xfrm>
          <a:off x="1465943" y="1143000"/>
          <a:ext cx="10443028" cy="43325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5211843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BB72F-D0B8-204C-BC63-75CE3254E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8DA160-70D4-D8B2-5057-E95B7883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926" y="-141163"/>
            <a:ext cx="7033089" cy="882848"/>
          </a:xfrm>
        </p:spPr>
        <p:txBody>
          <a:bodyPr/>
          <a:lstStyle/>
          <a:p>
            <a:r>
              <a:rPr lang="en-IN" dirty="0"/>
              <a:t>Dataset &amp; Experimental Setup</a:t>
            </a:r>
            <a:endParaRPr lang="en-US" dirty="0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8B0DAEB2-F347-EAAF-47EC-7B51B58390A4}"/>
              </a:ext>
            </a:extLst>
          </p:cNvPr>
          <p:cNvSpPr txBox="1">
            <a:spLocks/>
          </p:cNvSpPr>
          <p:nvPr/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D65601-5AE2-46FC-B138-694DDD2B510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FD9385-60D3-F90F-5136-EA8EBEB446D2}"/>
              </a:ext>
            </a:extLst>
          </p:cNvPr>
          <p:cNvSpPr txBox="1"/>
          <p:nvPr/>
        </p:nvSpPr>
        <p:spPr>
          <a:xfrm>
            <a:off x="1099457" y="849086"/>
            <a:ext cx="10570029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Indian Painting Classification Dataset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Target task: </a:t>
            </a:r>
            <a:r>
              <a:rPr lang="en-IN" sz="1600" b="1" dirty="0"/>
              <a:t>8-class image classification</a:t>
            </a:r>
            <a:r>
              <a:rPr lang="en-IN" sz="16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Dataset focused on Indian traditional paintings.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Same dataset splitting protocol is maintained across experiments.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Data augmentation is used during model training where applicable.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Models are evaluated using both overall and class-wise metrics. </a:t>
            </a:r>
          </a:p>
          <a:p>
            <a:pPr lvl="0"/>
            <a:endParaRPr lang="en-IN" sz="1600" dirty="0"/>
          </a:p>
          <a:p>
            <a:r>
              <a:rPr lang="en-IN" sz="1600" b="1" dirty="0"/>
              <a:t>Experimental Evaluation</a:t>
            </a:r>
          </a:p>
          <a:p>
            <a:r>
              <a:rPr lang="en-IN" sz="1600" b="1" dirty="0"/>
              <a:t>Overall metrics</a:t>
            </a: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Accuracy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Precision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Recall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F1-score </a:t>
            </a:r>
          </a:p>
          <a:p>
            <a:r>
              <a:rPr lang="en-IN" sz="1600" b="1" dirty="0"/>
              <a:t>Class-wise metrics</a:t>
            </a: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Precision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Recall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F1-score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Support </a:t>
            </a:r>
          </a:p>
          <a:p>
            <a:r>
              <a:rPr lang="en-IN" sz="1600" b="1" dirty="0"/>
              <a:t>Additional analysis</a:t>
            </a: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Confusion Matrix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r>
              <a:rPr lang="en-IN" sz="1600" b="1" dirty="0"/>
              <a:t>Experimental objective</a:t>
            </a:r>
          </a:p>
          <a:p>
            <a:r>
              <a:rPr lang="en-IN" sz="1600" dirty="0"/>
              <a:t>Compare different deep-learning representations and classification strategies under a consistent experimental setup.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051387881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183" y="-162056"/>
            <a:ext cx="9150675" cy="1427585"/>
          </a:xfrm>
        </p:spPr>
        <p:txBody>
          <a:bodyPr/>
          <a:lstStyle/>
          <a:p>
            <a:r>
              <a:rPr lang="en-IN" dirty="0"/>
              <a:t>Models Developed and Evaluated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EE570-1B5E-FFD1-485D-D77E4E6FE7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54183" y="960357"/>
            <a:ext cx="8552264" cy="4664076"/>
          </a:xfrm>
        </p:spPr>
        <p:txBody>
          <a:bodyPr>
            <a:normAutofit/>
          </a:bodyPr>
          <a:lstStyle/>
          <a:p>
            <a:r>
              <a:rPr lang="en-IN" sz="1600" dirty="0"/>
              <a:t>Six Deep Learning Models for Indian Painting Classification</a:t>
            </a:r>
          </a:p>
          <a:p>
            <a:r>
              <a:rPr lang="en-IN" sz="1600" dirty="0"/>
              <a:t>To investigate different approaches for visual representation learning and classification, </a:t>
            </a:r>
            <a:r>
              <a:rPr lang="en-IN" sz="1600" b="1" dirty="0"/>
              <a:t>six models</a:t>
            </a:r>
            <a:r>
              <a:rPr lang="en-IN" sz="1600" dirty="0"/>
              <a:t> were developed and evaluated on the 8-class Indian painting dataset.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353142" y="5789648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493CAA-2E1F-B685-3F68-AF69389029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887247"/>
              </p:ext>
            </p:extLst>
          </p:nvPr>
        </p:nvGraphicFramePr>
        <p:xfrm>
          <a:off x="1782174" y="1984472"/>
          <a:ext cx="8940255" cy="4426608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2156913">
                  <a:extLst>
                    <a:ext uri="{9D8B030D-6E8A-4147-A177-3AD203B41FA5}">
                      <a16:colId xmlns:a16="http://schemas.microsoft.com/office/drawing/2014/main" val="2592287649"/>
                    </a:ext>
                  </a:extLst>
                </a:gridCol>
                <a:gridCol w="2156913">
                  <a:extLst>
                    <a:ext uri="{9D8B030D-6E8A-4147-A177-3AD203B41FA5}">
                      <a16:colId xmlns:a16="http://schemas.microsoft.com/office/drawing/2014/main" val="3288509919"/>
                    </a:ext>
                  </a:extLst>
                </a:gridCol>
                <a:gridCol w="3156857">
                  <a:extLst>
                    <a:ext uri="{9D8B030D-6E8A-4147-A177-3AD203B41FA5}">
                      <a16:colId xmlns:a16="http://schemas.microsoft.com/office/drawing/2014/main" val="2597782840"/>
                    </a:ext>
                  </a:extLst>
                </a:gridCol>
                <a:gridCol w="1469572">
                  <a:extLst>
                    <a:ext uri="{9D8B030D-6E8A-4147-A177-3AD203B41FA5}">
                      <a16:colId xmlns:a16="http://schemas.microsoft.com/office/drawing/2014/main" val="1896336336"/>
                    </a:ext>
                  </a:extLst>
                </a:gridCol>
              </a:tblGrid>
              <a:tr h="180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Model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Approach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Key Idea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Category</a:t>
                      </a:r>
                      <a:endParaRPr lang="en-IN" sz="1500" dirty="0"/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963838772"/>
                  </a:ext>
                </a:extLst>
              </a:tr>
              <a:tr h="316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ResNet50  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Fine-tuned CNN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Deep residual feature learning with transfer learning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CNN-based</a:t>
                      </a:r>
                      <a:endParaRPr lang="en-IN" sz="1500" dirty="0"/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1760521254"/>
                  </a:ext>
                </a:extLst>
              </a:tr>
              <a:tr h="452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EfficientNet-B0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CNN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Efficient feature extraction with a strong accuracy–efficiency trade-off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CNN-based</a:t>
                      </a:r>
                      <a:endParaRPr lang="en-IN" sz="1500" dirty="0"/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1782181634"/>
                  </a:ext>
                </a:extLst>
              </a:tr>
              <a:tr h="452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ResNet50 + SVM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Deep Features + Classical ML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ResNet50 feature representation combined with SVM classification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Hybrid</a:t>
                      </a:r>
                      <a:endParaRPr lang="en-IN" sz="1500" dirty="0"/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2361650645"/>
                  </a:ext>
                </a:extLst>
              </a:tr>
              <a:tr h="452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Swin Transformer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Hierarchical Transformer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Window-based self-attention for multi-scale visual representation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Transformer-based</a:t>
                      </a:r>
                      <a:endParaRPr lang="en-IN" sz="1500" dirty="0"/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2979193636"/>
                  </a:ext>
                </a:extLst>
              </a:tr>
              <a:tr h="316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ViT-B/16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Vision Transformer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Global image representation using self-attention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Transformer-based</a:t>
                      </a:r>
                    </a:p>
                    <a:p>
                      <a:pPr>
                        <a:buNone/>
                      </a:pPr>
                      <a:endParaRPr lang="en-IN" sz="1500" dirty="0"/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2828002695"/>
                  </a:ext>
                </a:extLst>
              </a:tr>
              <a:tr h="5888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DINOv2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Self-Supervised ViT + Contrastive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Self-supervised visual representation learning without relying solely on supervised pretraining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Self-Supervised</a:t>
                      </a:r>
                      <a:endParaRPr lang="en-IN" sz="1500" dirty="0"/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2334794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6152353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6F71E8-8D71-9405-3A01-01C3B8F86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628" y="0"/>
            <a:ext cx="7814754" cy="1427585"/>
          </a:xfrm>
        </p:spPr>
        <p:txBody>
          <a:bodyPr/>
          <a:lstStyle/>
          <a:p>
            <a:r>
              <a:rPr lang="en-IN" dirty="0"/>
              <a:t>Training and Evaluation Strategy</a:t>
            </a:r>
            <a:endParaRPr lang="en-Z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518A5-1C9D-79F3-349C-3E7AAFD9895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F37775-8782-5855-0012-013066223387}"/>
              </a:ext>
            </a:extLst>
          </p:cNvPr>
          <p:cNvSpPr txBox="1"/>
          <p:nvPr/>
        </p:nvSpPr>
        <p:spPr>
          <a:xfrm>
            <a:off x="979714" y="1197429"/>
            <a:ext cx="108001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Common Experimental Setup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All models were evaluated for the </a:t>
            </a:r>
            <a:r>
              <a:rPr lang="en-IN" b="1" dirty="0"/>
              <a:t>8-class Indian painting classification</a:t>
            </a:r>
            <a:r>
              <a:rPr lang="en-IN" dirty="0"/>
              <a:t> task.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Transfer learning was used for pretrained deep-learning architectures.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Models were trained on the prepared and </a:t>
            </a:r>
            <a:r>
              <a:rPr lang="en-IN" dirty="0" err="1"/>
              <a:t>preprocessed</a:t>
            </a:r>
            <a:r>
              <a:rPr lang="en-IN" dirty="0"/>
              <a:t> painting dataset.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Validation performance was monitored during training.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 best-performing model/checkpoint was retained based on validation performance.</a:t>
            </a:r>
          </a:p>
          <a:p>
            <a:endParaRPr lang="en-IN" dirty="0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D8CC0D6B-7E1B-40DC-0B77-2C7BC90E2420}"/>
              </a:ext>
            </a:extLst>
          </p:cNvPr>
          <p:cNvSpPr txBox="1">
            <a:spLocks/>
          </p:cNvSpPr>
          <p:nvPr/>
        </p:nvSpPr>
        <p:spPr>
          <a:xfrm>
            <a:off x="1049028" y="2950029"/>
            <a:ext cx="7814754" cy="14275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Model-Specific Training Approaches</a:t>
            </a:r>
            <a:endParaRPr lang="en-Z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6492A4-A903-F9EC-1507-1F48CF442748}"/>
              </a:ext>
            </a:extLst>
          </p:cNvPr>
          <p:cNvSpPr txBox="1"/>
          <p:nvPr/>
        </p:nvSpPr>
        <p:spPr>
          <a:xfrm>
            <a:off x="1132114" y="4136571"/>
            <a:ext cx="101128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ResNet50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Fine-tuned pretrained CNN.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Adapted learned visual features to the Indian painting dataset.</a:t>
            </a:r>
          </a:p>
          <a:p>
            <a:pPr lvl="0"/>
            <a:r>
              <a:rPr lang="en-IN" dirty="0"/>
              <a:t> </a:t>
            </a:r>
          </a:p>
          <a:p>
            <a:r>
              <a:rPr lang="en-IN" b="1" dirty="0"/>
              <a:t>EfficientNet-B0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Transfer-learning based CNN.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Fine-tuned for the target classification task.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438246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0343C-D33F-B6B9-92C5-D8874AD88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182C6F-9164-63D6-523D-627F283C3B4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6196EE91-1F02-8229-1A3B-CB98581153CB}"/>
              </a:ext>
            </a:extLst>
          </p:cNvPr>
          <p:cNvSpPr txBox="1">
            <a:spLocks/>
          </p:cNvSpPr>
          <p:nvPr/>
        </p:nvSpPr>
        <p:spPr>
          <a:xfrm>
            <a:off x="1005485" y="-76200"/>
            <a:ext cx="7814754" cy="14275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Model-Specific Training Approaches</a:t>
            </a:r>
            <a:endParaRPr lang="en-Z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7BE6C6-422D-EF5E-B188-68D56801DE4E}"/>
              </a:ext>
            </a:extLst>
          </p:cNvPr>
          <p:cNvSpPr txBox="1"/>
          <p:nvPr/>
        </p:nvSpPr>
        <p:spPr>
          <a:xfrm>
            <a:off x="1153886" y="1120676"/>
            <a:ext cx="10112829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ResNet50 + SVM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Fine-tuned ResNet50 used as a </a:t>
            </a:r>
            <a:r>
              <a:rPr lang="en-IN" b="1" dirty="0"/>
              <a:t>feature extractor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Extracted </a:t>
            </a:r>
            <a:r>
              <a:rPr lang="en-IN" b="1" dirty="0"/>
              <a:t>2048-dimensional deep features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Features standardized using </a:t>
            </a:r>
            <a:r>
              <a:rPr lang="en-IN" b="1" dirty="0" err="1"/>
              <a:t>StandardScaler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SVM used as the final classifier. </a:t>
            </a:r>
          </a:p>
          <a:p>
            <a:pPr lvl="0"/>
            <a:endParaRPr lang="en-IN" dirty="0"/>
          </a:p>
          <a:p>
            <a:r>
              <a:rPr lang="en-IN" b="1" dirty="0"/>
              <a:t>Swin Transformer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Transformer-based hierarchical visual representation.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Fine-tuned for painting classification. </a:t>
            </a:r>
          </a:p>
          <a:p>
            <a:pPr lvl="0"/>
            <a:endParaRPr lang="en-IN" dirty="0"/>
          </a:p>
          <a:p>
            <a:r>
              <a:rPr lang="en-IN" b="1" dirty="0" err="1"/>
              <a:t>ViT</a:t>
            </a:r>
            <a:r>
              <a:rPr lang="en-IN" b="1" dirty="0"/>
              <a:t>-B/16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Transformer-based global visual representation.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Trained using a </a:t>
            </a:r>
            <a:r>
              <a:rPr lang="en-IN" b="1" dirty="0"/>
              <a:t>staged fine-tuning strategy</a:t>
            </a:r>
            <a:r>
              <a:rPr lang="en-IN" dirty="0"/>
              <a:t>. </a:t>
            </a:r>
          </a:p>
          <a:p>
            <a:pPr lvl="0"/>
            <a:endParaRPr lang="en-IN" dirty="0"/>
          </a:p>
          <a:p>
            <a:r>
              <a:rPr lang="en-IN" b="1" dirty="0"/>
              <a:t>DINOv2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Self-supervised pretrained visual representation.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Used as a feature-learning approach for classification.</a:t>
            </a:r>
          </a:p>
          <a:p>
            <a:pPr lvl="0"/>
            <a:endParaRPr lang="en-IN" dirty="0"/>
          </a:p>
          <a:p>
            <a:r>
              <a:rPr lang="en-IN" b="1" dirty="0"/>
              <a:t>Evaluation Metrics</a:t>
            </a:r>
          </a:p>
          <a:p>
            <a:r>
              <a:rPr lang="en-IN" b="1" dirty="0"/>
              <a:t>Accuracy | Precision | Recall | F1-score | Support</a:t>
            </a:r>
            <a:endParaRPr lang="en-IN" dirty="0"/>
          </a:p>
          <a:p>
            <a:pPr lvl="0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938313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EE32F-BE46-6444-6749-6B81BD792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AF6EA9-4E1C-D151-1338-32E5FE62B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195" y="87488"/>
            <a:ext cx="9297509" cy="1187296"/>
          </a:xfrm>
        </p:spPr>
        <p:txBody>
          <a:bodyPr/>
          <a:lstStyle/>
          <a:p>
            <a:r>
              <a:rPr lang="en-IN" dirty="0"/>
              <a:t>6-Models Performance Analysis</a:t>
            </a:r>
            <a:endParaRPr lang="en-Z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07A431-9259-35F2-C470-91437A0EED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8C06D23-9210-1E05-16B9-68BD2472D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3407547"/>
              </p:ext>
            </p:extLst>
          </p:nvPr>
        </p:nvGraphicFramePr>
        <p:xfrm>
          <a:off x="1036195" y="989372"/>
          <a:ext cx="10883236" cy="5128399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733463">
                  <a:extLst>
                    <a:ext uri="{9D8B030D-6E8A-4147-A177-3AD203B41FA5}">
                      <a16:colId xmlns:a16="http://schemas.microsoft.com/office/drawing/2014/main" val="3560974092"/>
                    </a:ext>
                  </a:extLst>
                </a:gridCol>
                <a:gridCol w="995521">
                  <a:extLst>
                    <a:ext uri="{9D8B030D-6E8A-4147-A177-3AD203B41FA5}">
                      <a16:colId xmlns:a16="http://schemas.microsoft.com/office/drawing/2014/main" val="1427696845"/>
                    </a:ext>
                  </a:extLst>
                </a:gridCol>
                <a:gridCol w="995521">
                  <a:extLst>
                    <a:ext uri="{9D8B030D-6E8A-4147-A177-3AD203B41FA5}">
                      <a16:colId xmlns:a16="http://schemas.microsoft.com/office/drawing/2014/main" val="80991109"/>
                    </a:ext>
                  </a:extLst>
                </a:gridCol>
                <a:gridCol w="995521">
                  <a:extLst>
                    <a:ext uri="{9D8B030D-6E8A-4147-A177-3AD203B41FA5}">
                      <a16:colId xmlns:a16="http://schemas.microsoft.com/office/drawing/2014/main" val="1962381108"/>
                    </a:ext>
                  </a:extLst>
                </a:gridCol>
                <a:gridCol w="995521">
                  <a:extLst>
                    <a:ext uri="{9D8B030D-6E8A-4147-A177-3AD203B41FA5}">
                      <a16:colId xmlns:a16="http://schemas.microsoft.com/office/drawing/2014/main" val="1370961693"/>
                    </a:ext>
                  </a:extLst>
                </a:gridCol>
                <a:gridCol w="995521">
                  <a:extLst>
                    <a:ext uri="{9D8B030D-6E8A-4147-A177-3AD203B41FA5}">
                      <a16:colId xmlns:a16="http://schemas.microsoft.com/office/drawing/2014/main" val="3801972659"/>
                    </a:ext>
                  </a:extLst>
                </a:gridCol>
                <a:gridCol w="995521">
                  <a:extLst>
                    <a:ext uri="{9D8B030D-6E8A-4147-A177-3AD203B41FA5}">
                      <a16:colId xmlns:a16="http://schemas.microsoft.com/office/drawing/2014/main" val="3145758353"/>
                    </a:ext>
                  </a:extLst>
                </a:gridCol>
                <a:gridCol w="995521">
                  <a:extLst>
                    <a:ext uri="{9D8B030D-6E8A-4147-A177-3AD203B41FA5}">
                      <a16:colId xmlns:a16="http://schemas.microsoft.com/office/drawing/2014/main" val="376898782"/>
                    </a:ext>
                  </a:extLst>
                </a:gridCol>
                <a:gridCol w="1181126">
                  <a:extLst>
                    <a:ext uri="{9D8B030D-6E8A-4147-A177-3AD203B41FA5}">
                      <a16:colId xmlns:a16="http://schemas.microsoft.com/office/drawing/2014/main" val="3394274955"/>
                    </a:ext>
                  </a:extLst>
                </a:gridCol>
              </a:tblGrid>
              <a:tr h="10891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Model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Accuracy</a:t>
                      </a:r>
                      <a:endParaRPr lang="en-IN" sz="11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Precision</a:t>
                      </a:r>
                      <a:endParaRPr lang="en-IN" sz="11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Recall</a:t>
                      </a:r>
                      <a:endParaRPr lang="en-IN" sz="11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F1-score</a:t>
                      </a:r>
                      <a:endParaRPr lang="en-IN" sz="11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Weighted</a:t>
                      </a:r>
                      <a:br>
                        <a:rPr lang="en-IN" sz="1100" u="none" strike="noStrike" dirty="0">
                          <a:effectLst/>
                        </a:rPr>
                      </a:br>
                      <a:r>
                        <a:rPr lang="en-IN" sz="1100" u="none" strike="noStrike" dirty="0">
                          <a:effectLst/>
                        </a:rPr>
                        <a:t>Precision</a:t>
                      </a:r>
                      <a:endParaRPr lang="en-IN" sz="11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Weighted</a:t>
                      </a:r>
                      <a:br>
                        <a:rPr lang="en-IN" sz="1100" u="none" strike="noStrike">
                          <a:effectLst/>
                        </a:rPr>
                      </a:br>
                      <a:r>
                        <a:rPr lang="en-IN" sz="1100" u="none" strike="noStrike">
                          <a:effectLst/>
                        </a:rPr>
                        <a:t>Recall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Weighted</a:t>
                      </a:r>
                      <a:br>
                        <a:rPr lang="en-IN" sz="1100" u="none" strike="noStrike">
                          <a:effectLst/>
                        </a:rPr>
                      </a:br>
                      <a:r>
                        <a:rPr lang="en-IN" sz="1100" u="none" strike="noStrike">
                          <a:effectLst/>
                        </a:rPr>
                        <a:t>F1-score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Support</a:t>
                      </a:r>
                      <a:br>
                        <a:rPr lang="en-IN" sz="1100" u="none" strike="noStrike">
                          <a:effectLst/>
                        </a:rPr>
                      </a:br>
                      <a:r>
                        <a:rPr lang="en-IN" sz="1100" u="none" strike="noStrike">
                          <a:effectLst/>
                        </a:rPr>
                        <a:t>(Test samples)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23709542"/>
                  </a:ext>
                </a:extLst>
              </a:tr>
              <a:tr h="5947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ResNet50 (Fine-tuned CNN)</a:t>
                      </a:r>
                      <a:endParaRPr lang="en-IN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 dirty="0">
                          <a:effectLst/>
                        </a:rPr>
                        <a:t>87.00%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85.00%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84.00%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84.00%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88.00%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87.00%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87.00%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144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77349015"/>
                  </a:ext>
                </a:extLst>
              </a:tr>
              <a:tr h="5947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EfficientNet-B0</a:t>
                      </a:r>
                      <a:endParaRPr lang="en-IN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84.72%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83.14%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81.54%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81.38%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86.60%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84.72%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84.93%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144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14602038"/>
                  </a:ext>
                </a:extLst>
              </a:tr>
              <a:tr h="5947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ResNet50 + SVM</a:t>
                      </a:r>
                      <a:endParaRPr lang="en-IN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87.50%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86.90%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85.54%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85.56%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88.16%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87.50%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87.37%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144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43622288"/>
                  </a:ext>
                </a:extLst>
              </a:tr>
              <a:tr h="5947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Swin Transformer</a:t>
                      </a:r>
                      <a:endParaRPr lang="en-IN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83.92%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83.97%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83.40%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83.50%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83.85%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83.92%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83.71%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143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51725969"/>
                  </a:ext>
                </a:extLst>
              </a:tr>
              <a:tr h="5947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ViT-B/16</a:t>
                      </a:r>
                      <a:endParaRPr lang="en-IN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86.81%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87.06%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82.67%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84.27%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88.23%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86.81%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87.00%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144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58845774"/>
                  </a:ext>
                </a:extLst>
              </a:tr>
              <a:tr h="10655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DINOv2 (Self-Supervised ViT + Contrastive)</a:t>
                      </a:r>
                      <a:endParaRPr lang="en-IN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 dirty="0">
                          <a:effectLst/>
                        </a:rPr>
                        <a:t>94.41%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94.45%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 dirty="0">
                          <a:effectLst/>
                        </a:rPr>
                        <a:t>93.74%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93.94%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94.61%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94.41%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94.38%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 dirty="0">
                          <a:effectLst/>
                        </a:rPr>
                        <a:t>143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44737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76424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6DE65-A423-C180-BBD1-9A0C51CBC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222009-FF64-CCBE-002F-5E4A12F12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195" y="87488"/>
            <a:ext cx="9297509" cy="1187296"/>
          </a:xfrm>
        </p:spPr>
        <p:txBody>
          <a:bodyPr/>
          <a:lstStyle/>
          <a:p>
            <a:r>
              <a:rPr lang="en-IN" dirty="0"/>
              <a:t>8-Class Performance Analysis for DINOv2</a:t>
            </a:r>
            <a:endParaRPr lang="en-Z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D20E3B-BF34-31AF-CF02-45ED2820801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467986B-6A59-5705-388E-60F634C688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619189"/>
              </p:ext>
            </p:extLst>
          </p:nvPr>
        </p:nvGraphicFramePr>
        <p:xfrm>
          <a:off x="1240971" y="1535463"/>
          <a:ext cx="10134600" cy="4147457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312197">
                  <a:extLst>
                    <a:ext uri="{9D8B030D-6E8A-4147-A177-3AD203B41FA5}">
                      <a16:colId xmlns:a16="http://schemas.microsoft.com/office/drawing/2014/main" val="563136361"/>
                    </a:ext>
                  </a:extLst>
                </a:gridCol>
                <a:gridCol w="2142127">
                  <a:extLst>
                    <a:ext uri="{9D8B030D-6E8A-4147-A177-3AD203B41FA5}">
                      <a16:colId xmlns:a16="http://schemas.microsoft.com/office/drawing/2014/main" val="3086252979"/>
                    </a:ext>
                  </a:extLst>
                </a:gridCol>
                <a:gridCol w="1170069">
                  <a:extLst>
                    <a:ext uri="{9D8B030D-6E8A-4147-A177-3AD203B41FA5}">
                      <a16:colId xmlns:a16="http://schemas.microsoft.com/office/drawing/2014/main" val="3603383160"/>
                    </a:ext>
                  </a:extLst>
                </a:gridCol>
                <a:gridCol w="1170069">
                  <a:extLst>
                    <a:ext uri="{9D8B030D-6E8A-4147-A177-3AD203B41FA5}">
                      <a16:colId xmlns:a16="http://schemas.microsoft.com/office/drawing/2014/main" val="3233335062"/>
                    </a:ext>
                  </a:extLst>
                </a:gridCol>
                <a:gridCol w="1170069">
                  <a:extLst>
                    <a:ext uri="{9D8B030D-6E8A-4147-A177-3AD203B41FA5}">
                      <a16:colId xmlns:a16="http://schemas.microsoft.com/office/drawing/2014/main" val="2739103799"/>
                    </a:ext>
                  </a:extLst>
                </a:gridCol>
                <a:gridCol w="1170069">
                  <a:extLst>
                    <a:ext uri="{9D8B030D-6E8A-4147-A177-3AD203B41FA5}">
                      <a16:colId xmlns:a16="http://schemas.microsoft.com/office/drawing/2014/main" val="2235056143"/>
                    </a:ext>
                  </a:extLst>
                </a:gridCol>
              </a:tblGrid>
              <a:tr h="635670">
                <a:tc rowSpan="9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50" u="none" strike="noStrike" dirty="0">
                          <a:effectLst/>
                        </a:rPr>
                        <a:t>DINOv2 (Self-Supervised </a:t>
                      </a:r>
                      <a:r>
                        <a:rPr lang="en-IN" sz="1050" u="none" strike="noStrike" dirty="0" err="1">
                          <a:effectLst/>
                        </a:rPr>
                        <a:t>ViT</a:t>
                      </a:r>
                      <a:r>
                        <a:rPr lang="en-IN" sz="1050" u="none" strike="noStrike" dirty="0">
                          <a:effectLst/>
                        </a:rPr>
                        <a:t> + Contrastive)</a:t>
                      </a:r>
                      <a:endParaRPr lang="en-IN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50" u="none" strike="noStrike" dirty="0" err="1">
                          <a:effectLst/>
                        </a:rPr>
                        <a:t>gond</a:t>
                      </a:r>
                      <a:r>
                        <a:rPr lang="en-IN" sz="1050" u="none" strike="noStrike" dirty="0">
                          <a:effectLst/>
                        </a:rPr>
                        <a:t> painting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93.33%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93.33%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93.33%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15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64334616"/>
                  </a:ext>
                </a:extLst>
              </a:tr>
              <a:tr h="52137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kalighat painting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97.37%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100.00%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98.67%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37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98997771"/>
                  </a:ext>
                </a:extLst>
              </a:tr>
              <a:tr h="49393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kangra painting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100.00%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92.31%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96.00%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13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4313602"/>
                  </a:ext>
                </a:extLst>
              </a:tr>
              <a:tr h="41608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kerala mural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100.00%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100.00%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100.00%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14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3474027"/>
                  </a:ext>
                </a:extLst>
              </a:tr>
              <a:tr h="41608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madhubani painting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86.67%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92.86%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89.66%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14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81504070"/>
                  </a:ext>
                </a:extLst>
              </a:tr>
              <a:tr h="41608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mandana art drawing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90.00%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85.71%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87.80%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21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29329251"/>
                  </a:ext>
                </a:extLst>
              </a:tr>
              <a:tr h="41608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pichwai painting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100.00%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85.71%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92.31%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14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53167349"/>
                  </a:ext>
                </a:extLst>
              </a:tr>
              <a:tr h="41608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warli painting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88.24%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100.00%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93.75%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15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73484805"/>
                  </a:ext>
                </a:extLst>
              </a:tr>
              <a:tr h="41608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MACRO AVG (overall)</a:t>
                      </a:r>
                      <a:endParaRPr lang="en-IN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94.45%</a:t>
                      </a:r>
                      <a:endParaRPr lang="en-IN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93.74%</a:t>
                      </a:r>
                      <a:endParaRPr lang="en-IN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>
                          <a:effectLst/>
                        </a:rPr>
                        <a:t>93.94%</a:t>
                      </a:r>
                      <a:endParaRPr lang="en-IN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u="none" strike="noStrike" dirty="0">
                          <a:effectLst/>
                        </a:rPr>
                        <a:t>143</a:t>
                      </a:r>
                      <a:endParaRPr lang="en-IN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2733757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A118C8B-4A78-943E-A898-B2E24FA1F7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684343"/>
              </p:ext>
            </p:extLst>
          </p:nvPr>
        </p:nvGraphicFramePr>
        <p:xfrm>
          <a:off x="1240971" y="1009684"/>
          <a:ext cx="10134599" cy="525780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3312196">
                  <a:extLst>
                    <a:ext uri="{9D8B030D-6E8A-4147-A177-3AD203B41FA5}">
                      <a16:colId xmlns:a16="http://schemas.microsoft.com/office/drawing/2014/main" val="2052136581"/>
                    </a:ext>
                  </a:extLst>
                </a:gridCol>
                <a:gridCol w="2142127">
                  <a:extLst>
                    <a:ext uri="{9D8B030D-6E8A-4147-A177-3AD203B41FA5}">
                      <a16:colId xmlns:a16="http://schemas.microsoft.com/office/drawing/2014/main" val="4205081835"/>
                    </a:ext>
                  </a:extLst>
                </a:gridCol>
                <a:gridCol w="1170069">
                  <a:extLst>
                    <a:ext uri="{9D8B030D-6E8A-4147-A177-3AD203B41FA5}">
                      <a16:colId xmlns:a16="http://schemas.microsoft.com/office/drawing/2014/main" val="530427793"/>
                    </a:ext>
                  </a:extLst>
                </a:gridCol>
                <a:gridCol w="1170069">
                  <a:extLst>
                    <a:ext uri="{9D8B030D-6E8A-4147-A177-3AD203B41FA5}">
                      <a16:colId xmlns:a16="http://schemas.microsoft.com/office/drawing/2014/main" val="2935844878"/>
                    </a:ext>
                  </a:extLst>
                </a:gridCol>
                <a:gridCol w="1170069">
                  <a:extLst>
                    <a:ext uri="{9D8B030D-6E8A-4147-A177-3AD203B41FA5}">
                      <a16:colId xmlns:a16="http://schemas.microsoft.com/office/drawing/2014/main" val="2101188972"/>
                    </a:ext>
                  </a:extLst>
                </a:gridCol>
                <a:gridCol w="1170069">
                  <a:extLst>
                    <a:ext uri="{9D8B030D-6E8A-4147-A177-3AD203B41FA5}">
                      <a16:colId xmlns:a16="http://schemas.microsoft.com/office/drawing/2014/main" val="380663189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Model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Class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Precision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Recall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F1-score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Test Images</a:t>
                      </a:r>
                      <a:endParaRPr lang="en-IN" sz="11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61192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3065840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05CD6-9FC2-1A4D-0BD9-7EC666FAF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2817A1F-9A7E-E349-70D2-E7B4DE2BE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628" y="0"/>
            <a:ext cx="9303286" cy="1427585"/>
          </a:xfrm>
        </p:spPr>
        <p:txBody>
          <a:bodyPr/>
          <a:lstStyle/>
          <a:p>
            <a:r>
              <a:rPr lang="en-IN" dirty="0"/>
              <a:t>Comparative Analysis &amp; Current Findings</a:t>
            </a:r>
            <a:endParaRPr lang="en-Z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AC11EA-432F-C29E-F4EE-7EE7C62AF61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C3B161-A47C-281F-026A-D062BDF22CF4}"/>
              </a:ext>
            </a:extLst>
          </p:cNvPr>
          <p:cNvSpPr txBox="1"/>
          <p:nvPr/>
        </p:nvSpPr>
        <p:spPr>
          <a:xfrm>
            <a:off x="979714" y="1197429"/>
            <a:ext cx="1080015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Findings so far:</a:t>
            </a:r>
          </a:p>
          <a:p>
            <a:endParaRPr lang="en-IN" sz="20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Multiple model architectures/pipelines were implemented and evaluated.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Transfer learning provides a strong starting point for Indian painting classification.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Fine-tuning improves adaptation to the target dataset.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Stage-wise training allows controlled investigation of model improvement.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Evaluation using precision, recall and F1-score provides more detailed insight than accuracy alone.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Class-wise analysis reveals differences in classification difficulty among the 8 classes. </a:t>
            </a:r>
          </a:p>
          <a:p>
            <a:pPr lvl="0"/>
            <a:endParaRPr lang="en-IN" dirty="0"/>
          </a:p>
          <a:p>
            <a:r>
              <a:rPr lang="en-IN" b="1" dirty="0"/>
              <a:t>Current research direction</a:t>
            </a:r>
          </a:p>
          <a:p>
            <a:endParaRPr lang="en-IN" b="1" dirty="0"/>
          </a:p>
          <a:p>
            <a:r>
              <a:rPr lang="en-IN" b="1" dirty="0"/>
              <a:t>Identify the most effective pipeline → analyse errors → refine the approach → establish final experimental results.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1954140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08856-C9C5-89AC-A7F7-C425925B3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4E8625-BEF5-DC5C-7D46-8ECE3FE4B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628" y="0"/>
            <a:ext cx="9303286" cy="1427585"/>
          </a:xfrm>
        </p:spPr>
        <p:txBody>
          <a:bodyPr/>
          <a:lstStyle/>
          <a:p>
            <a:r>
              <a:rPr lang="en-IN" dirty="0"/>
              <a:t>PART C — NEXT REVIEW</a:t>
            </a:r>
            <a:endParaRPr lang="en-Z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943B18-D7C5-12DF-2B9F-D965D0E4EFE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CEA279-0477-A2D6-BC2D-EA6D6005F680}"/>
              </a:ext>
            </a:extLst>
          </p:cNvPr>
          <p:cNvSpPr txBox="1"/>
          <p:nvPr/>
        </p:nvSpPr>
        <p:spPr>
          <a:xfrm>
            <a:off x="979714" y="1197429"/>
            <a:ext cx="1080015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Finalise the best-performing model/pipeline. 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Complete Stage 3 and Stage 4 comparative analysis. 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Perform detailed confusion-matrix and error analysis. 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Consolidate overall and 8-class-wise performance metrics. 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Compare all implemented models systematically. 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Finalise the proposed methodology/framework. 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Document research findings and limitations. 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Prepare the research work report and final experimental documentation. 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IN" dirty="0"/>
              <a:t>Identify scope for further improvement/future research.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294261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870AA-AE48-6F3B-B782-FEB1AE8E4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15AF9D6-1156-A9DE-1705-D2698917FCFE}"/>
              </a:ext>
            </a:extLst>
          </p:cNvPr>
          <p:cNvSpPr/>
          <p:nvPr/>
        </p:nvSpPr>
        <p:spPr>
          <a:xfrm>
            <a:off x="1270253" y="675442"/>
            <a:ext cx="3643165" cy="1147353"/>
          </a:xfrm>
          <a:prstGeom prst="round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softEdge rad="127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C43668-538D-4542-6245-C24517F3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174" y="675442"/>
            <a:ext cx="3372465" cy="1147353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635A3-C293-05AA-0E56-D4F444A0EF2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0E5492-4DAD-5AFC-6ADD-95F881ED510D}"/>
              </a:ext>
            </a:extLst>
          </p:cNvPr>
          <p:cNvSpPr txBox="1"/>
          <p:nvPr/>
        </p:nvSpPr>
        <p:spPr>
          <a:xfrm>
            <a:off x="1270253" y="2136338"/>
            <a:ext cx="948623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Summarizes the research work completed on iconography till date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Systematic literature review and comparative analysis were conducted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Structured taxonomies for iconography applications and cultural–religious iconography were developed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Made Excel for ,Comparative study between proposed survey and existing surveys.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3510354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01732C-7338-DBA0-BD19-1FA88304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717" y="3775587"/>
            <a:ext cx="6213896" cy="2197510"/>
          </a:xfrm>
        </p:spPr>
        <p:txBody>
          <a:bodyPr/>
          <a:lstStyle/>
          <a:p>
            <a:r>
              <a:rPr lang="en-US" dirty="0"/>
              <a:t>Thank 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A1675-6C04-2196-4617-52759299F27C}"/>
              </a:ext>
            </a:extLst>
          </p:cNvPr>
          <p:cNvSpPr txBox="1">
            <a:spLocks/>
          </p:cNvSpPr>
          <p:nvPr/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D65601-5AE2-46FC-B138-694DDD2B510D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370842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Modern conference presentation</Template>
  <TotalTime>356</TotalTime>
  <Words>1178</Words>
  <Application>Microsoft Office PowerPoint</Application>
  <PresentationFormat>Widescreen</PresentationFormat>
  <Paragraphs>319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Tisa Offc Serif Pro</vt:lpstr>
      <vt:lpstr>Univers Light</vt:lpstr>
      <vt:lpstr>Wingdings</vt:lpstr>
      <vt:lpstr>Custom</vt:lpstr>
      <vt:lpstr>Research Review-3 on Iconography</vt:lpstr>
      <vt:lpstr>PowerPoint Presentation</vt:lpstr>
      <vt:lpstr>Work Done Till RMS Review-2</vt:lpstr>
      <vt:lpstr>PART B - From Research Gap to Implementation</vt:lpstr>
      <vt:lpstr>Implementation progression</vt:lpstr>
      <vt:lpstr>Dataset &amp; Experimental Setup</vt:lpstr>
      <vt:lpstr>Models Developed and Evaluated</vt:lpstr>
      <vt:lpstr>Training and Evaluation Strategy</vt:lpstr>
      <vt:lpstr>PowerPoint Presentation</vt:lpstr>
      <vt:lpstr>6-Models Performance Analysis</vt:lpstr>
      <vt:lpstr>8-Class Performance Analysis for DINOv2</vt:lpstr>
      <vt:lpstr>Comparative Analysis &amp; Current Findings</vt:lpstr>
      <vt:lpstr>PART C — NEXT REVIEW</vt:lpstr>
      <vt:lpstr>Conclusion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Beladiya</dc:creator>
  <cp:lastModifiedBy>Harsh Beladiya</cp:lastModifiedBy>
  <cp:revision>24</cp:revision>
  <dcterms:created xsi:type="dcterms:W3CDTF">2026-02-14T11:13:49Z</dcterms:created>
  <dcterms:modified xsi:type="dcterms:W3CDTF">2026-08-30T05:07:56Z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